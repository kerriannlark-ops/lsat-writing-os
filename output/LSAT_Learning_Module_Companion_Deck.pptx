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LSAT Argumentative Writing Learning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Companion deck aligned to the app curriculum, drill system, and official timing rules.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What the modern LSAT writing task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Answer the key question, compare perspectives, and justify the better judgment in clean prose.</a:t>
            </a:r>
          </a:p>
          <a:p>
            <a:pPr>
              <a:defRPr sz="1800"/>
            </a:pPr>
            <a:r>
              <a:t>Formula: Key question + standard + side + reasoning chain = strong LSAT essay</a:t>
            </a:r>
          </a:p>
          <a:p>
            <a:pPr>
              <a:defRPr sz="1800"/>
            </a:pPr>
            <a:r>
              <a:t>Example: A strong essay does not list all four perspectives. It uses the most relevant ones to prove a controlled judgment.</a:t>
            </a:r>
          </a:p>
          <a:p>
            <a:pPr>
              <a:defRPr sz="1800"/>
            </a:pPr>
            <a:r>
              <a:t>Drill prompt: In one minute, explain what makes the task argumentative rather than merely descriptive.</a:t>
            </a:r>
          </a:p>
          <a:p>
            <a:pPr>
              <a:defRPr sz="1800"/>
            </a:pPr>
            <a:r>
              <a:t>What strong writers do: Strong writers choose a standard early and make every paragraph answer that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Official vs extended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Official LSAT timing is 15/35. Extended 23/53 belongs to training or accommodation simulation only.</a:t>
            </a:r>
          </a:p>
          <a:p>
            <a:pPr>
              <a:defRPr sz="1800"/>
            </a:pPr>
            <a:r>
              <a:t>Formula: Official = 15 prewrite / 35 write | Extended training = 23 / 53 | Microdrills = 6-15 minutes</a:t>
            </a:r>
          </a:p>
          <a:p>
            <a:pPr>
              <a:defRPr sz="1800"/>
            </a:pPr>
            <a:r>
              <a:t>Example: Use extended timing for skills work, but always label it clearly so the student knows it is not the standard LSAT format.</a:t>
            </a:r>
          </a:p>
          <a:p>
            <a:pPr>
              <a:defRPr sz="1800"/>
            </a:pPr>
            <a:r>
              <a:t>Drill prompt: Write down what you will do in the first 5 minutes of prewriting and the first 5 minutes of drafting.</a:t>
            </a:r>
          </a:p>
          <a:p>
            <a:pPr>
              <a:defRPr sz="1800"/>
            </a:pPr>
            <a:r>
              <a:t>What strong writers do: Strong writers protect drafting time; they do not spend the whole session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The core reasoning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Every strong paragraph follows the same logic chain.</a:t>
            </a:r>
          </a:p>
          <a:p>
            <a:pPr>
              <a:defRPr sz="1800"/>
            </a:pPr>
            <a:r>
              <a:t>Formula: Claim -&gt; Mechanism -&gt; Evidence -&gt; Inference -&gt; Counter -&gt; Limitation -&gt; Comparative close</a:t>
            </a:r>
          </a:p>
          <a:p>
            <a:pPr>
              <a:defRPr sz="1800"/>
            </a:pPr>
            <a:r>
              <a:t>Example: If career preparation helps students, explain how it does so, what evidence supports it, and why that matters more than the competing concern.</a:t>
            </a:r>
          </a:p>
          <a:p>
            <a:pPr>
              <a:defRPr sz="1800"/>
            </a:pPr>
            <a:r>
              <a:t>Drill prompt: Label each sentence of a model paragraph by function.</a:t>
            </a:r>
          </a:p>
          <a:p>
            <a:pPr>
              <a:defRPr sz="1800"/>
            </a:pPr>
            <a:r>
              <a:t>What strong writers do: Strong writers know what each sentence is doing before they worry about sounding impressive.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Scope box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A scope box narrows the prompt into a usable lane.</a:t>
            </a:r>
          </a:p>
          <a:p>
            <a:pPr>
              <a:defRPr sz="1800"/>
            </a:pPr>
            <a:r>
              <a:t>Formula: Topic subset | population/context | timeframe/condition | analytical lens | comparison rule</a:t>
            </a:r>
          </a:p>
          <a:p>
            <a:pPr>
              <a:defRPr sz="1800"/>
            </a:pPr>
            <a:r>
              <a:t>Example: Undergraduate education | students in changing labor markets | long-term development | adaptability + judgment | favor the model that protects both opportunity and growth</a:t>
            </a:r>
          </a:p>
          <a:p>
            <a:pPr>
              <a:defRPr sz="1800"/>
            </a:pPr>
            <a:r>
              <a:t>Drill prompt: Build a full scope box and then list two ideas that fall outside it.</a:t>
            </a:r>
          </a:p>
          <a:p>
            <a:pPr>
              <a:defRPr sz="1800"/>
            </a:pPr>
            <a:r>
              <a:t>What strong writers do: Strong writers use the scope box to exclude tempting but irrelevant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Perspective audit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Treat each perspective as a value lens and argumentative tool.</a:t>
            </a:r>
          </a:p>
          <a:p>
            <a:pPr>
              <a:defRPr sz="1800"/>
            </a:pPr>
            <a:r>
              <a:t>Formula: Core claim + assumption + strength + weakness + value lens + thesis use</a:t>
            </a:r>
          </a:p>
          <a:p>
            <a:pPr>
              <a:defRPr sz="1800"/>
            </a:pPr>
            <a:r>
              <a:t>Example: A perspective may help your thesis on adaptability but hurt it on fairness. Track both.</a:t>
            </a:r>
          </a:p>
          <a:p>
            <a:pPr>
              <a:defRPr sz="1800"/>
            </a:pPr>
            <a:r>
              <a:t>Drill prompt: Convert a source-order summary into a topic-by-topic map.</a:t>
            </a:r>
          </a:p>
          <a:p>
            <a:pPr>
              <a:defRPr sz="1800"/>
            </a:pPr>
            <a:r>
              <a:t>What strong writers do: Strong writers sort perspectives by issue, not by the order they appeared in the prompt.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Mechanism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Mechanism explains how the result happens.</a:t>
            </a:r>
          </a:p>
          <a:p>
            <a:pPr>
              <a:defRPr sz="1800"/>
            </a:pPr>
            <a:r>
              <a:t>Formula: Because X gives/allows/prevents Y, it leads to Z</a:t>
            </a:r>
          </a:p>
          <a:p>
            <a:pPr>
              <a:defRPr sz="1800"/>
            </a:pPr>
            <a:r>
              <a:t>Example: Exposure to competing ideas strengthens judgment, which makes graduates more adaptable when circumstances change.</a:t>
            </a:r>
          </a:p>
          <a:p>
            <a:pPr>
              <a:defRPr sz="1800"/>
            </a:pPr>
            <a:r>
              <a:t>Drill prompt: Build a 3-step causal chain for one claim from your outline.</a:t>
            </a:r>
          </a:p>
          <a:p>
            <a:pPr>
              <a:defRPr sz="1800"/>
            </a:pPr>
            <a:r>
              <a:t>What strong writers do: Strong writers replace vague verbs like “helps” with causal verbs that show what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Inference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Evidence matters only if the draft explains what it proves and why that proof matters.</a:t>
            </a:r>
          </a:p>
          <a:p>
            <a:pPr>
              <a:defRPr sz="1800"/>
            </a:pPr>
            <a:r>
              <a:t>Formula: Evidence suggests X. This matters because Y. Therefore Z is stronger.</a:t>
            </a:r>
          </a:p>
          <a:p>
            <a:pPr>
              <a:defRPr sz="1800"/>
            </a:pPr>
            <a:r>
              <a:t>Example: Perspective 2 suggests reflection strengthens judgment. This matters because ambiguous problems cannot be solved by technical skill alone.</a:t>
            </a:r>
          </a:p>
          <a:p>
            <a:pPr>
              <a:defRPr sz="1800"/>
            </a:pPr>
            <a:r>
              <a:t>Drill prompt: Write one evidence sentence, one inference sentence, and one why-it-matters sentence for the same idea.</a:t>
            </a:r>
          </a:p>
          <a:p>
            <a:pPr>
              <a:defRPr sz="1800"/>
            </a:pPr>
            <a:r>
              <a:t>What strong writers do: Strong writers do not paraphrase the same evidence twice and call it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Thesis + intro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A thesis should concede the competing concern, take a side, name the standard, and state the mechanism.</a:t>
            </a:r>
          </a:p>
          <a:p>
            <a:pPr>
              <a:defRPr sz="1800"/>
            </a:pPr>
            <a:r>
              <a:t>Formula: Although [competing concern], [position] is stronger because [mechanism], especially when judged by [standard].</a:t>
            </a:r>
          </a:p>
          <a:p>
            <a:pPr>
              <a:defRPr sz="1800"/>
            </a:pPr>
            <a:r>
              <a:t>Example: Although career readiness matters, a balanced college model is stronger because it produces both immediate opportunity and long-term adaptability.</a:t>
            </a:r>
          </a:p>
          <a:p>
            <a:pPr>
              <a:defRPr sz="1800"/>
            </a:pPr>
            <a:r>
              <a:t>Drill prompt: Draft a thesis that includes one hedge or qualification.</a:t>
            </a:r>
          </a:p>
          <a:p>
            <a:pPr>
              <a:defRPr sz="1800"/>
            </a:pPr>
            <a:r>
              <a:t>What strong writers do: Strong writers use the introduction to narrow the debate, not to summarize every perspective.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Counter + limitation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A powerful counter paragraph acknowledges force and then narrows it with a real condition.</a:t>
            </a:r>
          </a:p>
          <a:p>
            <a:pPr>
              <a:defRPr sz="1800"/>
            </a:pPr>
            <a:r>
              <a:t>Formula: Critics argue X because Y. That matters, but it is strongest only when Z. Under the actual condition, the original position remains stronger because…</a:t>
            </a:r>
          </a:p>
          <a:p>
            <a:pPr>
              <a:defRPr sz="1800"/>
            </a:pPr>
            <a:r>
              <a:t>Example: A career-first model helps under urgent economic pressure, but it weakens when narrow specialization becomes obsolete.</a:t>
            </a:r>
          </a:p>
          <a:p>
            <a:pPr>
              <a:defRPr sz="1800"/>
            </a:pPr>
            <a:r>
              <a:t>Drill prompt: Write the strongest objection first. Then write the condition that limits it.</a:t>
            </a:r>
          </a:p>
          <a:p>
            <a:pPr>
              <a:defRPr sz="1800"/>
            </a:pPr>
            <a:r>
              <a:t>What strong writers do: Strong writers do not avoid the best objection. They control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Paragraph skeleton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Every body paragraph needs a full argumentative skeleton.</a:t>
            </a:r>
          </a:p>
          <a:p>
            <a:pPr>
              <a:defRPr sz="1800"/>
            </a:pPr>
            <a:r>
              <a:t>Formula: Claim | Mechanism | Evidence | Inference | Counterpoint | Limitation | Comparative conclusion</a:t>
            </a:r>
          </a:p>
          <a:p>
            <a:pPr>
              <a:defRPr sz="1800"/>
            </a:pPr>
            <a:r>
              <a:t>Example: Paragraph 2 should prove a second dimension of the standard instead of repeating Paragraph 1.</a:t>
            </a:r>
          </a:p>
          <a:p>
            <a:pPr>
              <a:defRPr sz="1800"/>
            </a:pPr>
            <a:r>
              <a:t>Drill prompt: Run a Paragraph 2 Expansion Drill on your weakest essay.</a:t>
            </a:r>
          </a:p>
          <a:p>
            <a:pPr>
              <a:defRPr sz="1800"/>
            </a:pPr>
            <a:r>
              <a:t>What strong writers do: Strong writers know their second paragraph often determines whether the essay feels mature.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5-paragraph essay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Each paragraph should carry a distinct burden of proof.</a:t>
            </a:r>
          </a:p>
          <a:p>
            <a:pPr>
              <a:defRPr sz="1800"/>
            </a:pPr>
            <a:r>
              <a:t>Formula: Intro -&gt; Body 1 -&gt; Body 2 -&gt; Counter/Limitation -&gt; Conclusion</a:t>
            </a:r>
          </a:p>
          <a:p>
            <a:pPr>
              <a:defRPr sz="1800"/>
            </a:pPr>
            <a:r>
              <a:t>Example: Body 1 can prove immediate opportunity; Body 2 can prove long-term adaptability; Counter can concede economic pressure but limit narrow training.</a:t>
            </a:r>
          </a:p>
          <a:p>
            <a:pPr>
              <a:defRPr sz="1800"/>
            </a:pPr>
            <a:r>
              <a:t>Drill prompt: Write one sentence describing the job of each paragraph before drafting.</a:t>
            </a:r>
          </a:p>
          <a:p>
            <a:pPr>
              <a:defRPr sz="1800"/>
            </a:pPr>
            <a:r>
              <a:t>What strong writers do: Strong writers avoid paragraphs that all do the same thing with different wording.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Timed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Timed reps should preserve diagnosis, not just output.</a:t>
            </a:r>
          </a:p>
          <a:p>
            <a:pPr>
              <a:defRPr sz="1800"/>
            </a:pPr>
            <a:r>
              <a:t>Formula: Rep -&gt; diagnose weakness -&gt; assign next drill -&gt; repeat</a:t>
            </a:r>
          </a:p>
          <a:p>
            <a:pPr>
              <a:defRPr sz="1800"/>
            </a:pPr>
            <a:r>
              <a:t>Example: After the essay, log whether the counter paragraph was completed and which single weakness hurt the score most.</a:t>
            </a:r>
          </a:p>
          <a:p>
            <a:pPr>
              <a:defRPr sz="1800"/>
            </a:pPr>
            <a:r>
              <a:t>Drill prompt: Run one microdrill and one full rep, then compare what breaks down under pressure.</a:t>
            </a:r>
          </a:p>
          <a:p>
            <a:pPr>
              <a:defRPr sz="1800"/>
            </a:pPr>
            <a:r>
              <a:t>What strong writers do: Strong writers use timed reps to gather data, not just to feel busy.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Diagnostic weakness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The same weakness categories should appear in coaching, revision, and tracker data.</a:t>
            </a:r>
          </a:p>
          <a:p>
            <a:pPr>
              <a:defRPr sz="1800"/>
            </a:pPr>
            <a:r>
              <a:t>Formula: Mechanism | Inference | Scope | Thesis | Counter | Limitation | Comparative close | Sentence clarity</a:t>
            </a:r>
          </a:p>
          <a:p>
            <a:pPr>
              <a:defRPr sz="1800"/>
            </a:pPr>
            <a:r>
              <a:t>Example: If the essay summarizes perspectives but never interprets them, the weakness is inference depth, not merely evidence use.</a:t>
            </a:r>
          </a:p>
          <a:p>
            <a:pPr>
              <a:defRPr sz="1800"/>
            </a:pPr>
            <a:r>
              <a:t>Drill prompt: Tag one old draft with every weakness category you can find.</a:t>
            </a:r>
          </a:p>
          <a:p>
            <a:pPr>
              <a:defRPr sz="1800"/>
            </a:pPr>
            <a:r>
              <a:t>What strong writers do: Strong writers diagnose specific failures instead of calling an essay “bad” in general.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Daily drill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Skill gains come from short focused reps, not only full essays.</a:t>
            </a:r>
          </a:p>
          <a:p>
            <a:pPr>
              <a:defRPr sz="1800"/>
            </a:pPr>
            <a:r>
              <a:t>Formula: Scope box -&gt; perspective audit -&gt; mechanism -&gt; inference -&gt; paragraph build</a:t>
            </a:r>
          </a:p>
          <a:p>
            <a:pPr>
              <a:defRPr sz="1800"/>
            </a:pPr>
            <a:r>
              <a:t>Example: A 45-minute block can still move the needle if it targets one weakness category fully.</a:t>
            </a:r>
          </a:p>
          <a:p>
            <a:pPr>
              <a:defRPr sz="1800"/>
            </a:pPr>
            <a:r>
              <a:t>Drill prompt: Build a one-day drill stack around your weakest category.</a:t>
            </a:r>
          </a:p>
          <a:p>
            <a:pPr>
              <a:defRPr sz="1800"/>
            </a:pPr>
            <a:r>
              <a:t>What strong writers do: Strong writers practice subskills separately so the full essay feels lighter.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Weekly improvement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Concept: Each week should include full reps, diagnosis, and targeted repair.</a:t>
            </a:r>
          </a:p>
          <a:p>
            <a:pPr>
              <a:defRPr sz="1800"/>
            </a:pPr>
            <a:r>
              <a:t>Formula: 2 timed reps + 3 drill blocks + 1 revision session + 1 tracker review</a:t>
            </a:r>
          </a:p>
          <a:p>
            <a:pPr>
              <a:defRPr sz="1800"/>
            </a:pPr>
            <a:r>
              <a:t>Example: If two essays in a row break down on mechanism, the next week should bias toward causal chain drills before another full rep.</a:t>
            </a:r>
          </a:p>
          <a:p>
            <a:pPr>
              <a:defRPr sz="1800"/>
            </a:pPr>
            <a:r>
              <a:t>Drill prompt: Map your next 7 days: which two full reps and which three drills will you run?</a:t>
            </a:r>
          </a:p>
          <a:p>
            <a:pPr>
              <a:defRPr sz="1800"/>
            </a:pPr>
            <a:r>
              <a:t>What strong writers do: Strong writers treat improvement like a system, not a mood.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